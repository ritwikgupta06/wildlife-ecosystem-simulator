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2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4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734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2743200" cy="2743200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solidFill>
              <a:srgbClr val="40916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74C69D">
              <a:alpha val="25000"/>
            </a:srgbClr>
          </a:solidFill>
          <a:ln w="12700">
            <a:solidFill>
              <a:srgbClr val="74C69D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-274320"/>
            <a:ext cx="1371600" cy="1371600"/>
          </a:xfrm>
          <a:prstGeom prst="ellipse">
            <a:avLst/>
          </a:prstGeom>
          <a:solidFill>
            <a:srgbClr val="F4A261">
              <a:alpha val="40000"/>
            </a:srgbClr>
          </a:solidFill>
          <a:ln w="12700">
            <a:solidFill>
              <a:srgbClr val="F4A26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4C69D"/>
          </a:solidFill>
          <a:ln w="12700">
            <a:solidFill>
              <a:srgbClr val="74C6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Wildlife Ecosystem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365760" y="164592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Explorer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365760" y="26060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A8D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Predator-Prey Simulation · ML Risk Assessment · Interactive Interventions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3291840"/>
            <a:ext cx="2651760" cy="411480"/>
          </a:xfrm>
          <a:prstGeom prst="roundRect">
            <a:avLst>
              <a:gd name="adj" fmla="val 48889"/>
            </a:avLst>
          </a:prstGeom>
          <a:solidFill>
            <a:srgbClr val="40916C">
              <a:alpha val="70000"/>
            </a:srgbClr>
          </a:solidFill>
          <a:ln w="12700">
            <a:solidFill>
              <a:srgbClr val="74C69D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32918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Lotka-Volterra ODEs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3291840"/>
            <a:ext cx="2651760" cy="411480"/>
          </a:xfrm>
          <a:prstGeom prst="roundRect">
            <a:avLst>
              <a:gd name="adj" fmla="val 48889"/>
            </a:avLst>
          </a:prstGeom>
          <a:solidFill>
            <a:srgbClr val="40916C">
              <a:alpha val="70000"/>
            </a:srgbClr>
          </a:solidFill>
          <a:ln w="12700">
            <a:solidFill>
              <a:srgbClr val="74C69D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46120" y="32918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3291840"/>
            <a:ext cx="2651760" cy="411480"/>
          </a:xfrm>
          <a:prstGeom prst="roundRect">
            <a:avLst>
              <a:gd name="adj" fmla="val 48889"/>
            </a:avLst>
          </a:prstGeom>
          <a:solidFill>
            <a:srgbClr val="40916C">
              <a:alpha val="70000"/>
            </a:srgbClr>
          </a:solidFill>
          <a:ln w="12700">
            <a:solidFill>
              <a:srgbClr val="74C69D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26480" y="32918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+ Plotly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44805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DB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 Semester Mini Project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749040" cy="3474720"/>
          </a:xfrm>
          <a:prstGeom prst="rect">
            <a:avLst/>
          </a:prstGeom>
          <a:solidFill>
            <a:srgbClr val="FFF3CD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749040" cy="4114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664208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Predator-prey ecosystems collapse under pressure from hunting, disease, and habitat loss.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require deep maths expertise and lack interactivity.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accessible platform provides AI-driven risk prediction alongside real-time simulation.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4114800" cy="3474720"/>
          </a:xfrm>
          <a:prstGeom prst="rect">
            <a:avLst/>
          </a:prstGeom>
          <a:solidFill>
            <a:srgbClr val="D8F3DC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4114800" cy="41148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11430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1664208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Simulate Lotka-Volterra dynamics with configurable parameters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Apply real-world interventions (hunting, disease, habitat loss, reintroduction)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Train a Random Forest classifier for ecosystem risk prediction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Visualise results via interactive charts and phase portraits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Bridge computational biology with accessible AI tools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"/>
            <a:ext cx="9144000" cy="1005840"/>
          </a:xfrm>
          <a:prstGeom prst="rect">
            <a:avLst/>
          </a:prstGeom>
          <a:solidFill>
            <a:srgbClr val="0D2818"/>
          </a:solidFill>
          <a:ln w="12700">
            <a:solidFill>
              <a:srgbClr val="0D28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Lotka-Volterra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dirty="0">
                <a:solidFill>
                  <a:schemeClr val="accent6"/>
                </a:solidFill>
              </a:rPr>
              <a:t>Lotka-Volterra model is the simplest model of predator-prey interactions</a:t>
            </a:r>
          </a:p>
          <a:p>
            <a:r>
              <a:rPr lang="en-IN" sz="1200" dirty="0">
                <a:solidFill>
                  <a:schemeClr val="accent6"/>
                </a:solidFill>
              </a:rPr>
              <a:t>The model was developed independently by Lotka (1925) and Volterra (1926)</a:t>
            </a:r>
            <a:endParaRPr lang="en-US" sz="1200" dirty="0">
              <a:solidFill>
                <a:schemeClr val="accent6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023360" cy="2286000"/>
          </a:xfrm>
          <a:prstGeom prst="rect">
            <a:avLst/>
          </a:prstGeom>
          <a:solidFill>
            <a:srgbClr val="1B4332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4023360" cy="3474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PREY GROWTH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37744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Prey grow at rate α but are consumed by predators at rate β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4023360" cy="2286000"/>
          </a:xfrm>
          <a:prstGeom prst="rect">
            <a:avLst/>
          </a:prstGeom>
          <a:solidFill>
            <a:srgbClr val="1B4332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325880"/>
            <a:ext cx="4023360" cy="34747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13258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PREDATOR GROWTH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237744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Predators gain from prey (δ) but die naturally at rate γ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37490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Reference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069080"/>
          <a:ext cx="8412480" cy="8229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74C69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 (alpha)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09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9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9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9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Prey birth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09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9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9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9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74C69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 (beta)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09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9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9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9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Predation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09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9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9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9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74C69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(delta)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09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9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9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9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Predator efficiency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09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9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9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9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74C69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γ (gamma)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09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9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9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9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Predator death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09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9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9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9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D6245D19-C282-C1EB-69DD-1D9E19CC15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rcRect b="5256"/>
          <a:stretch>
            <a:fillRect/>
          </a:stretch>
        </p:blipFill>
        <p:spPr>
          <a:xfrm>
            <a:off x="1108675" y="1811068"/>
            <a:ext cx="2537530" cy="65781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87E4473-FA03-A43C-9818-41640A9EEF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</a:extLst>
          </a:blip>
          <a:srcRect t="4795"/>
          <a:stretch>
            <a:fillRect/>
          </a:stretch>
        </p:blipFill>
        <p:spPr>
          <a:xfrm>
            <a:off x="5294586" y="1810512"/>
            <a:ext cx="2740739" cy="7108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Intervention Scenarios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6F5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73152" cy="15087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912" y="12344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🔫  Hunting Pressure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912" y="15819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Predator population halved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1856232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overhunting of predators — prey may overpopulate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23444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0" y="12344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B22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1143000"/>
            <a:ext cx="73152" cy="1508760"/>
          </a:xfrm>
          <a:prstGeom prst="rect">
            <a:avLst/>
          </a:prstGeom>
          <a:solidFill>
            <a:srgbClr val="9B2226"/>
          </a:solidFill>
          <a:ln w="12700">
            <a:solidFill>
              <a:srgbClr val="9B22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19472" y="12344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🦠  Disease Outbreak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19472" y="15819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Prey reduced by 60%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19472" y="1856232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prey decline risks predator starvation cascade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55280" y="123444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9B2226"/>
          </a:solidFill>
          <a:ln w="12700">
            <a:solidFill>
              <a:srgbClr val="9B22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955280" y="12344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788920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2788920"/>
            <a:ext cx="73152" cy="15087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38912" y="28803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 Habitat Loss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38912" y="32278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 rate α reduced 30%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38912" y="3502152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Permanently lowers prey growth — gradual ecosystem weakening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74720" y="288036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74720" y="28803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2788920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916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54880" y="2788920"/>
            <a:ext cx="73152" cy="150876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19472" y="28803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🐺  Predator Reintroduction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19472" y="32278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 predators added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19472" y="3502152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conservation reintroduction programs (e.g. wolf rewilding)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955280" y="288036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955280" y="28803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Restorative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74320" y="44348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at a user-chosen year — simulation splits at that point, applies the disturbance, then continues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Assessment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trained on 3,000 synthetic simulations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1481328" cy="1554480"/>
          </a:xfrm>
          <a:prstGeom prst="rect">
            <a:avLst/>
          </a:prstGeom>
          <a:solidFill>
            <a:srgbClr val="1B4332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86384" y="1115568"/>
            <a:ext cx="457200" cy="45720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86384" y="1115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563624"/>
            <a:ext cx="1389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874520"/>
            <a:ext cx="13898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 random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8D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Lotka-Volterra runs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55648" y="2011680"/>
            <a:ext cx="228600" cy="0"/>
          </a:xfrm>
          <a:prstGeom prst="line">
            <a:avLst/>
          </a:prstGeom>
          <a:noFill/>
          <a:ln w="25400">
            <a:solidFill>
              <a:srgbClr val="74C6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984248" y="1234440"/>
            <a:ext cx="1481328" cy="1554480"/>
          </a:xfrm>
          <a:prstGeom prst="rect">
            <a:avLst/>
          </a:prstGeom>
          <a:solidFill>
            <a:srgbClr val="1B4332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96312" y="1115568"/>
            <a:ext cx="457200" cy="4572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96312" y="1115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029968" y="1577340"/>
            <a:ext cx="1389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29968" y="1874520"/>
            <a:ext cx="13898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features per run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8D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(pop, params, trend, CV)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65576" y="2011680"/>
            <a:ext cx="228600" cy="0"/>
          </a:xfrm>
          <a:prstGeom prst="line">
            <a:avLst/>
          </a:prstGeom>
          <a:noFill/>
          <a:ln w="25400">
            <a:solidFill>
              <a:srgbClr val="74C6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94176" y="1234440"/>
            <a:ext cx="1481328" cy="1554480"/>
          </a:xfrm>
          <a:prstGeom prst="rect">
            <a:avLst/>
          </a:prstGeom>
          <a:solidFill>
            <a:srgbClr val="1B4332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206240" y="1115568"/>
            <a:ext cx="457200" cy="4572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06240" y="1115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739896" y="1563624"/>
            <a:ext cx="1389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39896" y="1874520"/>
            <a:ext cx="13898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/ At Risk 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8D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 Imminent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175504" y="2011680"/>
            <a:ext cx="228600" cy="0"/>
          </a:xfrm>
          <a:prstGeom prst="line">
            <a:avLst/>
          </a:prstGeom>
          <a:noFill/>
          <a:ln w="25400">
            <a:solidFill>
              <a:srgbClr val="74C6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04104" y="1234440"/>
            <a:ext cx="1481328" cy="1554480"/>
          </a:xfrm>
          <a:prstGeom prst="rect">
            <a:avLst/>
          </a:prstGeom>
          <a:solidFill>
            <a:srgbClr val="1B4332"/>
          </a:solidFill>
          <a:ln w="12700">
            <a:solidFill>
              <a:srgbClr val="74C6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916168" y="1115568"/>
            <a:ext cx="457200" cy="457200"/>
          </a:xfrm>
          <a:prstGeom prst="ellipse">
            <a:avLst/>
          </a:prstGeom>
          <a:solidFill>
            <a:srgbClr val="74C69D"/>
          </a:solidFill>
          <a:ln w="12700">
            <a:solidFill>
              <a:srgbClr val="74C6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16168" y="1115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34115" y="1590314"/>
            <a:ext cx="1389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49824" y="1874520"/>
            <a:ext cx="13898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8D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trees, depth 10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85432" y="2011680"/>
            <a:ext cx="228600" cy="0"/>
          </a:xfrm>
          <a:prstGeom prst="line">
            <a:avLst/>
          </a:prstGeom>
          <a:noFill/>
          <a:ln w="25400">
            <a:solidFill>
              <a:srgbClr val="74C6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114032" y="1234440"/>
            <a:ext cx="1481328" cy="1554480"/>
          </a:xfrm>
          <a:prstGeom prst="rect">
            <a:avLst/>
          </a:prstGeom>
          <a:solidFill>
            <a:srgbClr val="1B4332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626096" y="1115568"/>
            <a:ext cx="457200" cy="45720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626096" y="1115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159752" y="1586484"/>
            <a:ext cx="1389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59752" y="1874520"/>
            <a:ext cx="13898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probability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8D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simulation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2926080"/>
            <a:ext cx="4114800" cy="1920240"/>
          </a:xfrm>
          <a:prstGeom prst="rect">
            <a:avLst/>
          </a:prstGeom>
          <a:solidFill>
            <a:srgbClr val="1B4332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11480" y="29992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Extracted Features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11480" y="338328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Current prey &amp; predator populations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All 4 ODE parameters (α, β, δ, γ)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Prey &amp; predator trend (slope, last 20 steps)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Prey &amp; predator variability (coefficient of variation)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2926080"/>
            <a:ext cx="4114800" cy="1920240"/>
          </a:xfrm>
          <a:prstGeom prst="rect">
            <a:avLst/>
          </a:prstGeom>
          <a:solidFill>
            <a:srgbClr val="1B4332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92040" y="29992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Labels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892040" y="34015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Stable (Class 0)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92040" y="362102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Prey ≥ 15 &amp; Pred ≥ 3, normal range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92040" y="38404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At Risk (Class 1)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892040" y="405993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Low/high populations near threshold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892040" y="42793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Collapse Imminent (Class 2)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892040" y="449884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Prey &lt; 3 or Predator &lt; 0.5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Tech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834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40916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834640" cy="50292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3898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" y="17830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Sidebar parameter sliders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23774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Intervention selectbox &amp; year slider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29718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Metric cards, risk badge, progress bar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3566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Download CSV button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143000"/>
            <a:ext cx="2834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46120" y="1143000"/>
            <a:ext cx="2834640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37560" y="1143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Layer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13898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simulator.py + scipy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55848" y="17830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Lotka-Volterra odeint solver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55848" y="23774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Pre/post intervention splitting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55848" y="29718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Phase portrait &amp; time-series data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55848" y="3566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Rule-based fallback risk assessor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1143000"/>
            <a:ext cx="2834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4FC3F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17920" y="1143000"/>
            <a:ext cx="2834640" cy="5029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09360" y="1143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0" y="13898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scikit-learn + joblib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27648" y="17830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Random Forest (150 trees, depth 10)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27648" y="23774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Feature extraction from live sim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27648" y="29718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Collapse probability output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27648" y="3566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Model cached as risk_model.pkl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108960" y="2880360"/>
            <a:ext cx="137160" cy="0"/>
          </a:xfrm>
          <a:prstGeom prst="line">
            <a:avLst/>
          </a:prstGeom>
          <a:noFill/>
          <a:ln w="254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080760" y="2880360"/>
            <a:ext cx="137160" cy="0"/>
          </a:xfrm>
          <a:prstGeom prst="line">
            <a:avLst/>
          </a:prstGeom>
          <a:noFill/>
          <a:ln w="254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320" y="466344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75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3.9+   ·   Streamlit ≥1.32   ·   NumPy / SciPy   ·   Plotly ≥5.18   ·   scikit-learn ≥1.3   ·   joblib   ·   Pandas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Visualisations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users see in the app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965960" cy="1051560"/>
          </a:xfrm>
          <a:prstGeom prst="rect">
            <a:avLst/>
          </a:prstGeom>
          <a:solidFill>
            <a:srgbClr val="1B4332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17043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" y="166420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901952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8D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41448" y="1097280"/>
            <a:ext cx="1965960" cy="1051560"/>
          </a:xfrm>
          <a:prstGeom prst="rect">
            <a:avLst/>
          </a:prstGeom>
          <a:solidFill>
            <a:srgbClr val="1B4332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41448" y="117043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441448" y="166420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Predators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41448" y="1901952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8D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08576" y="1097280"/>
            <a:ext cx="1965960" cy="1051560"/>
          </a:xfrm>
          <a:prstGeom prst="rect">
            <a:avLst/>
          </a:prstGeom>
          <a:solidFill>
            <a:srgbClr val="1B4332"/>
          </a:solidFill>
          <a:ln w="12700">
            <a:solidFill>
              <a:srgbClr val="74C6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08576" y="117043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387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608576" y="166420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Prey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08576" y="1901952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8D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75704" y="1097280"/>
            <a:ext cx="1965960" cy="1051560"/>
          </a:xfrm>
          <a:prstGeom prst="rect">
            <a:avLst/>
          </a:prstGeom>
          <a:solidFill>
            <a:srgbClr val="1B4332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775704" y="117043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775704" y="166420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 Prob.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75704" y="1901952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8D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estimate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286000"/>
            <a:ext cx="4114800" cy="2423160"/>
          </a:xfrm>
          <a:prstGeom prst="rect">
            <a:avLst/>
          </a:prstGeom>
          <a:solidFill>
            <a:srgbClr val="1B4332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" y="23774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Population Time-Series Chart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2834640"/>
            <a:ext cx="38404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D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Prey (blue) and predator (red) populations over simulation years. Classic oscillating cycles indicate a healthy ecosystem. A vertical dashed line marks the intervention point.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09160" y="2286000"/>
            <a:ext cx="4114800" cy="2423160"/>
          </a:xfrm>
          <a:prstGeom prst="rect">
            <a:avLst/>
          </a:prstGeom>
          <a:solidFill>
            <a:srgbClr val="1B4332"/>
          </a:solidFill>
          <a:ln w="12700">
            <a:solidFill>
              <a:srgbClr val="74C6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46320" y="23774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🌀  Phase Portrait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2834640"/>
            <a:ext cx="38404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D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Prey vs. predator plotted directly — a closed loop = stable limit cycle; a spiral inward = collapse risk. Shows start (blue dot) and end (red dot) of simulation.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74320" y="4709160"/>
            <a:ext cx="8595360" cy="201168"/>
          </a:xfrm>
          <a:prstGeom prst="rect">
            <a:avLst/>
          </a:prstGeom>
          <a:solidFill>
            <a:srgbClr val="1B4332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74320" y="4709160"/>
            <a:ext cx="1097280" cy="201168"/>
          </a:xfrm>
          <a:prstGeom prst="rect">
            <a:avLst/>
          </a:prstGeom>
          <a:solidFill>
            <a:srgbClr val="74C69D"/>
          </a:solidFill>
          <a:ln w="12700">
            <a:solidFill>
              <a:srgbClr val="74C6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470916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Collapse Probability  [████░░░░░░░░░░░░░░░░░░░░]  12%  →  🟢 Stable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Comparison with Existing Tools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572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84048" y="1179576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Stable cycles confirmed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4048" y="141732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parameters produce closed-loop phase portraits consistent with Lotka-Volterra theory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801368"/>
            <a:ext cx="4572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" y="1837944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Disease → cascade risk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207568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prey reduction early in simulation causes predator starvation and ecosystem collapse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459736"/>
            <a:ext cx="4572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4048" y="249631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Habitat loss is gradual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" y="2734056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α by 30% slowly dampens oscillations without immediate collapse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118104"/>
            <a:ext cx="4572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4048" y="315468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🐺  Reintroduction restores cycles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" y="3392424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15 predators after hunting pressure partially re-establishes predator-prey balance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776472"/>
            <a:ext cx="4572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4048" y="381304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CV feature is key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" y="405079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of variation is the most informative ML feature — collapsing systems show low variability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66360" y="1097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Comparison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66360" y="1463040"/>
          <a:ext cx="3749040" cy="24688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Accessible?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Risk?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NetLogo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MATLAB 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deSolve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Project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091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091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40916C">
              <a:alpha val="25000"/>
            </a:srgbClr>
          </a:solidFill>
          <a:ln w="12700">
            <a:solidFill>
              <a:srgbClr val="40916C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457200" y="3200400"/>
            <a:ext cx="1828800" cy="1828800"/>
          </a:xfrm>
          <a:prstGeom prst="ellipse">
            <a:avLst/>
          </a:prstGeom>
          <a:solidFill>
            <a:srgbClr val="74C69D">
              <a:alpha val="30000"/>
            </a:srgbClr>
          </a:solidFill>
          <a:ln w="12700">
            <a:solidFill>
              <a:srgbClr val="74C69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4C69D"/>
          </a:solidFill>
          <a:ln w="12700">
            <a:solidFill>
              <a:srgbClr val="74C6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3931920" cy="3017520"/>
          </a:xfrm>
          <a:prstGeom prst="rect">
            <a:avLst/>
          </a:prstGeom>
          <a:solidFill>
            <a:srgbClr val="1B4332"/>
          </a:solidFill>
          <a:ln w="12700">
            <a:solidFill>
              <a:srgbClr val="74C6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What We Built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End-to-end ecosystem simulation using Lotka-Volterra ODEs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4 real-world intervention scenarios with temporal control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Random Forest risk classifier — Stable / At Risk / Collapse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Interactive Streamlit web app with phase portrait &amp; time-series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 mathematical expertise required from the user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114800" cy="3017520"/>
          </a:xfrm>
          <a:prstGeom prst="rect">
            <a:avLst/>
          </a:prstGeom>
          <a:solidFill>
            <a:srgbClr val="1B4332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00600" y="10515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Directions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00600" y="1463040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Multi-species food webs (vegetation, apex predators, scavengers)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Stochastic simulation for small-population randomness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Spatial modelling with PDE or agent-based grids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Real-world calibration (Lynx-Hare, African savanna data)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LSTM risk model trained on full population time-series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User accounts &amp; scenario comparison/sharing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41605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5760" y="46634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DB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Engineering, MAHE 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940</Words>
  <Application>Microsoft Macintosh PowerPoint</Application>
  <PresentationFormat>On-screen Show (16:9)</PresentationFormat>
  <Paragraphs>200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Wildlife Ecosystem Scenario Explorer</dc:title>
  <dc:subject>PptxGenJS Presentation</dc:subject>
  <dc:creator>PptxGenJS</dc:creator>
  <cp:lastModifiedBy>RITWIK GUPTA - 245805240 - MITBLR</cp:lastModifiedBy>
  <cp:revision>3</cp:revision>
  <dcterms:created xsi:type="dcterms:W3CDTF">2026-04-06T04:00:38Z</dcterms:created>
  <dcterms:modified xsi:type="dcterms:W3CDTF">2026-09-04T09:44:38Z</dcterms:modified>
</cp:coreProperties>
</file>